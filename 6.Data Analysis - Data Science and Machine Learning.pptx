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>
  <p:sldMasterIdLst>
    <p:sldMasterId id="2147483648" r:id="rId1"/>
  </p:sldMasterIdLst>
  <p:sldIdLst>
    <p:sldId id="256" r:id="rId2"/>
    <p:sldId id="447" r:id="rId3"/>
    <p:sldId id="450" r:id="rId4"/>
    <p:sldId id="451" r:id="rId5"/>
    <p:sldId id="459" r:id="rId6"/>
    <p:sldId id="452" r:id="rId7"/>
    <p:sldId id="453" r:id="rId8"/>
    <p:sldId id="476" r:id="rId9"/>
    <p:sldId id="455" r:id="rId10"/>
    <p:sldId id="463" r:id="rId11"/>
    <p:sldId id="467" r:id="rId12"/>
    <p:sldId id="465" r:id="rId13"/>
    <p:sldId id="477" r:id="rId14"/>
    <p:sldId id="464" r:id="rId15"/>
    <p:sldId id="466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475" r:id="rId24"/>
    <p:sldId id="458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041">
          <p15:clr>
            <a:srgbClr val="A4A3A4"/>
          </p15:clr>
        </p15:guide>
        <p15:guide id="2" pos="295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3BD"/>
    <a:srgbClr val="0A04F6"/>
    <a:srgbClr val="020350"/>
    <a:srgbClr val="F4EDF5"/>
    <a:srgbClr val="FFFF00"/>
    <a:srgbClr val="000000"/>
    <a:srgbClr val="760855"/>
    <a:srgbClr val="556F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5494" autoAdjust="0"/>
  </p:normalViewPr>
  <p:slideViewPr>
    <p:cSldViewPr snapToGrid="0" snapToObjects="1">
      <p:cViewPr varScale="1">
        <p:scale>
          <a:sx n="90" d="100"/>
          <a:sy n="90" d="100"/>
        </p:scale>
        <p:origin x="816" y="84"/>
      </p:cViewPr>
      <p:guideLst>
        <p:guide orient="horz" pos="2041"/>
        <p:guide pos="2957"/>
      </p:guideLst>
    </p:cSldViewPr>
  </p:slideViewPr>
  <p:outlineViewPr>
    <p:cViewPr>
      <p:scale>
        <a:sx n="33" d="100"/>
        <a:sy n="33" d="100"/>
      </p:scale>
      <p:origin x="0" y="-2568"/>
    </p:cViewPr>
  </p:outlin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AEEE05-D865-49A0-AE3F-00E27A4B7AA0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59162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1726C9-12E4-4E86-A937-4A1BE7C1B259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197940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E753C4-69CB-495A-A894-FDF8B8C8B897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24139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ACA4B-F022-4EA9-A258-176A6A05B672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4581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13731-2D52-4BED-A9F4-AA298E60996C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39919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B6334-8F83-49AA-A1AF-8C459F2D231C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98827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071E8C-3E0C-405B-865F-F6EFFD0A4172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1050932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9C650-EF66-4CC3-BCE2-E66926863C23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297110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8C60CC-7E1A-4EAB-AFF3-293A96FB6B33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732540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743E0-D43F-4112-9A29-CEEE574C6D1E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221621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BD302A-E8E8-462B-9A71-BB92AE65931A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  <p:extLst>
      <p:ext uri="{BB962C8B-B14F-4D97-AF65-F5344CB8AC3E}">
        <p14:creationId xmlns:p14="http://schemas.microsoft.com/office/powerpoint/2010/main" val="304142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u-RU" smtClean="0"/>
              <a:t>Click to edit Master text styles</a:t>
            </a:r>
          </a:p>
          <a:p>
            <a:pPr lvl="1"/>
            <a:r>
              <a:rPr lang="en-US" altLang="ru-RU" smtClean="0"/>
              <a:t>Second level</a:t>
            </a:r>
          </a:p>
          <a:p>
            <a:pPr lvl="2"/>
            <a:r>
              <a:rPr lang="en-US" altLang="ru-RU" smtClean="0"/>
              <a:t>Third level</a:t>
            </a:r>
          </a:p>
          <a:p>
            <a:pPr lvl="3"/>
            <a:r>
              <a:rPr lang="en-US" altLang="ru-RU" smtClean="0"/>
              <a:t>Fourth level</a:t>
            </a:r>
          </a:p>
          <a:p>
            <a:pPr lvl="4"/>
            <a:r>
              <a:rPr lang="en-US" altLang="ru-RU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endParaRPr lang="en-US" alt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/>
            </a:lvl1pPr>
          </a:lstStyle>
          <a:p>
            <a:pPr>
              <a:defRPr/>
            </a:pPr>
            <a:fld id="{CC55CFA4-03CC-4229-AC27-E440DAF53CC5}" type="slidenum">
              <a:rPr lang="en-US" altLang="ru-RU"/>
              <a:pPr>
                <a:defRPr/>
              </a:pPr>
              <a:t>‹#›</a:t>
            </a:fld>
            <a:endParaRPr lang="en-US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hyperlink" Target="https://habr.com/ru/companies/otus/articles/788646/" TargetMode="External"/><Relationship Id="rId7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emf"/><Relationship Id="rId4" Type="http://schemas.openxmlformats.org/officeDocument/2006/relationships/hyperlink" Target="https://spb.hh.ru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lassdoor.com/" TargetMode="External"/><Relationship Id="rId7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hyperlink" Target="https://builtin.com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jpeg"/><Relationship Id="rId5" Type="http://schemas.openxmlformats.org/officeDocument/2006/relationships/image" Target="../media/image45.png"/><Relationship Id="rId4" Type="http://schemas.openxmlformats.org/officeDocument/2006/relationships/image" Target="../media/image4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jpeg"/><Relationship Id="rId5" Type="http://schemas.openxmlformats.org/officeDocument/2006/relationships/image" Target="../media/image49.png"/><Relationship Id="rId4" Type="http://schemas.openxmlformats.org/officeDocument/2006/relationships/image" Target="../media/image48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jpe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31637" cy="685800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685800" y="2130425"/>
            <a:ext cx="77724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Science. Machine Learning.</a:t>
            </a:r>
            <a:endParaRPr lang="ru-RU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897630" y="5730876"/>
            <a:ext cx="523400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Приходько Игорь Анатольевич</a:t>
            </a:r>
          </a:p>
          <a:p>
            <a:pPr algn="r"/>
            <a:r>
              <a:rPr lang="ru-RU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г.Санкт</a:t>
            </a:r>
            <a:r>
              <a:rPr lang="ru-RU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-Петербург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73764" y="640080"/>
            <a:ext cx="3566716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800" b="1" dirty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него дать непросто — настолько данный термин многозначен.</a:t>
            </a: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Лучшее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возможных определений науки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 данных часто изображают в таком виде. 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Междисциплинарность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ключ к ее пониманию.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2400299" y="310387"/>
            <a:ext cx="44577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Что 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такое  </a:t>
            </a:r>
            <a:r>
              <a:rPr lang="ru-RU" sz="2800" b="1" dirty="0" err="1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dirty="0"/>
          </a:p>
        </p:txBody>
      </p:sp>
      <p:pic>
        <p:nvPicPr>
          <p:cNvPr id="4122" name="Picture 26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375" y="960201"/>
            <a:ext cx="5308180" cy="489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77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2880" y="422910"/>
            <a:ext cx="876681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Какими 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минимальными знаниями должен </a:t>
            </a:r>
            <a:endParaRPr lang="ru-RU" sz="28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обладать 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специалист 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 работы в </a:t>
            </a:r>
            <a:r>
              <a:rPr lang="ru-RU" sz="2800" b="1" dirty="0" err="1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endParaRPr lang="en-US" sz="2800" b="1" dirty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язык программирования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для работы с однородными данными в виде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массивов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библиотека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для работы с неоднородными и поименованными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данными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библиотека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для визуализаций типографского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качества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библиотека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для машинного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285" y="5605980"/>
            <a:ext cx="1758705" cy="744425"/>
          </a:xfrm>
          <a:prstGeom prst="rect">
            <a:avLst/>
          </a:prstGeom>
        </p:spPr>
      </p:pic>
      <p:pic>
        <p:nvPicPr>
          <p:cNvPr id="28676" name="Picture 4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173" y="5553761"/>
            <a:ext cx="1709823" cy="76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281" y="5675002"/>
            <a:ext cx="1714135" cy="627783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1207" y="5694012"/>
            <a:ext cx="1887508" cy="629169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4268" y="5263511"/>
            <a:ext cx="1762024" cy="95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595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4340" y="342900"/>
            <a:ext cx="8515350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Современный мир и </a:t>
            </a:r>
            <a:r>
              <a:rPr lang="en-US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endParaRPr lang="en-US" sz="2400" b="1" dirty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Итак, уже сегодня мы живем в мире, в котором огромное количество данных. И с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каждым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годом этих данных становится всё больше!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Веб-сайты отслеживают любое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нажатие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любого пользователя. 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Смартфоны накапливают сведения о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вашем местоположении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скорости в 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ежедневном и ежесекундном режиме. 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745" y="1457414"/>
            <a:ext cx="2924141" cy="2447924"/>
          </a:xfrm>
          <a:prstGeom prst="rect">
            <a:avLst/>
          </a:prstGeom>
        </p:spPr>
      </p:pic>
      <p:pic>
        <p:nvPicPr>
          <p:cNvPr id="2058" name="Picture 10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370" y="3860790"/>
            <a:ext cx="3486468" cy="232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66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4340" y="342900"/>
            <a:ext cx="851535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"Оцифрованные"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селферы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носят шагомеры,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записывающие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их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сердечные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ритмы,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движения,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схемы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питания и сна. 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Умные авто собирают сведения о манерах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вождения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своих владельцев, 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умные дома - об образе жизни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своих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обитателей, 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умные маркетологи - о наших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покупательских привычках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705" y="112958"/>
            <a:ext cx="2389186" cy="238918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705" y="2468117"/>
            <a:ext cx="2757133" cy="189702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704" y="4409664"/>
            <a:ext cx="2733955" cy="182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988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34340" y="342900"/>
            <a:ext cx="470916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 представляет собой огромный граф знаний,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содержащий:</a:t>
            </a: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 обширную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гипертекстовую энциклопедию,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 специализированные базы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о фильмах, музыке, спортивных результатах, игровых автоматах,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мемах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коктейлях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 и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слишком много статистических отчетов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слишком большого числа государственных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исполнительных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органов, и все это для того, чтобы вы объяли необъятное. 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203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b="1" dirty="0">
                <a:solidFill>
                  <a:srgbClr val="0203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этих данных кроятся ответы на бесчисленные вопросы, которые никто никогда не </a:t>
            </a:r>
            <a:r>
              <a:rPr lang="ru-RU" sz="2000" b="1" dirty="0" smtClean="0">
                <a:solidFill>
                  <a:srgbClr val="0203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думал задавать</a:t>
            </a:r>
            <a:r>
              <a:rPr lang="en-US" sz="2000" b="1" dirty="0">
                <a:solidFill>
                  <a:srgbClr val="0203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b="1" dirty="0">
              <a:solidFill>
                <a:srgbClr val="0203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280" y="540068"/>
            <a:ext cx="3934926" cy="547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057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67591" y="1122218"/>
            <a:ext cx="523597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году создается 328.77 млн терабайт данных ежедневно.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данных, которое создают люди, растет с невероятной скоростью, и нет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никаких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признаков того, что этот процесс замедлится.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Только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последние два года было создано 90% всех мировых данных.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взять более продолжительный отрезок времени, то с 2010 года общий объем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данных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мире увеличился более чем в 66 раз.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236518" y="139396"/>
            <a:ext cx="740871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Сколько данных 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создается 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день? </a:t>
            </a:r>
            <a:endParaRPr lang="en-US" sz="2800" b="1" dirty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(оценочные данные)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260" y="1785798"/>
            <a:ext cx="3104684" cy="408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5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74638" y="1068408"/>
            <a:ext cx="497900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бщий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объем данных, когда-либо созданных в мире,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147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зеттабайт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году. Это на 22.5% больше чем в предыдущем году.</a:t>
            </a: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году ожидается рост до 181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зеттабайта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год количество создаваемых данных в мире растет не менее чем на 22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Тераба́йт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(сокр. Тбайт, ТБ; международное сокр.: TB,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TByte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 единица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измерения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количества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информации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равен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(триллион)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байт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Зеттабайт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сокр.Збайт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ЗБ)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10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^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байт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371600" y="190411"/>
            <a:ext cx="715933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Сколько данных 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создается каждый 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день? </a:t>
            </a:r>
            <a:endParaRPr lang="en-US" sz="2800" b="1" dirty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/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(оценочные данные)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798" y="2034254"/>
            <a:ext cx="4356336" cy="362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16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77982" y="114300"/>
            <a:ext cx="8471708" cy="63841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кто это, </a:t>
            </a:r>
            <a:endParaRPr lang="ru-RU" sz="28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чем 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занимается, 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зарплата специалистов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— это новая нефть»</a:t>
            </a:r>
          </a:p>
          <a:p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(фраза была произнесена Джеком </a:t>
            </a:r>
            <a:r>
              <a:rPr lang="ru-RU" sz="20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endParaRPr lang="ru-RU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основателем 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корпорации </a:t>
            </a:r>
            <a:r>
              <a:rPr lang="en-US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Alibaba </a:t>
            </a:r>
            <a:r>
              <a:rPr lang="en-US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2017 году на форуме </a:t>
            </a:r>
            <a:endParaRPr lang="ru-RU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Открытые инновации»</a:t>
            </a:r>
            <a:r>
              <a:rPr lang="en-US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ru-RU" sz="2000" b="1" dirty="0">
              <a:solidFill>
                <a:srgbClr val="0A04F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solidFill>
                <a:srgbClr val="0A04F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en-US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 — 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самая сексуальная </a:t>
            </a:r>
            <a:endParaRPr lang="ru-RU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профессия </a:t>
            </a:r>
            <a:r>
              <a:rPr lang="en-US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XXI 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века</a:t>
            </a:r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(статья </a:t>
            </a:r>
            <a:r>
              <a:rPr lang="en-US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«Data </a:t>
            </a:r>
            <a:r>
              <a:rPr lang="en-US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Scientist: The Sexiest Job </a:t>
            </a:r>
            <a:endParaRPr lang="ru-RU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21st Century</a:t>
            </a:r>
            <a:r>
              <a:rPr lang="en-US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вышла в </a:t>
            </a:r>
            <a:endParaRPr lang="en-US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журнале </a:t>
            </a:r>
            <a:r>
              <a:rPr lang="en-US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Harvard Business </a:t>
            </a:r>
            <a:r>
              <a:rPr lang="en-US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Review, </a:t>
            </a:r>
            <a:endParaRPr lang="ru-RU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2012).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этих фразах больше газетной шумихи </a:t>
            </a: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(hype)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реального смысла?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233" y="1201307"/>
            <a:ext cx="3147427" cy="2517941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449" y="3986571"/>
            <a:ext cx="3920994" cy="212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71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26027" y="1039092"/>
            <a:ext cx="3901499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Дата-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сайентист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занимается анализом массивов данных —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помощью математического анализа и выявления закономерностей в данных специалист по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создаёт:</a:t>
            </a: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модели для решения конкретных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бизнес-задач </a:t>
            </a: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или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652155" y="190411"/>
            <a:ext cx="66532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кто это, 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чем</a:t>
            </a:r>
            <a:r>
              <a:rPr lang="en-US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занимается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810" y="918966"/>
            <a:ext cx="2219525" cy="2681484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853" y="2986165"/>
            <a:ext cx="2309121" cy="320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80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74638" y="523220"/>
            <a:ext cx="5139025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компаниям: </a:t>
            </a:r>
          </a:p>
          <a:p>
            <a:pPr marL="285750" indent="-28575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оптимизировать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улучшить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продукты и услуги,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предсказывать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спрос на рынке и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сокращать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затраты.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Его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аналитические навыки помогают руководителям компании и другим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заказчикам:</a:t>
            </a:r>
          </a:p>
          <a:p>
            <a:pPr marL="285750" indent="-28575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принимать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стратегические решения, </a:t>
            </a:r>
          </a:p>
          <a:p>
            <a:pPr marL="285750" indent="-28575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достигая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конкурентных преимуществ.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результате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может,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например:</a:t>
            </a:r>
          </a:p>
          <a:p>
            <a:pPr marL="285750" indent="-28575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предсказывать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тренды социальных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сетей,</a:t>
            </a:r>
          </a:p>
          <a:p>
            <a:pPr marL="285750" indent="-28575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поведение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покупателей,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определять перспективный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анализировать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44538" y="0"/>
            <a:ext cx="79883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результаты работы </a:t>
            </a:r>
            <a:r>
              <a:rPr lang="en-US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scientist</a:t>
            </a:r>
            <a:endParaRPr lang="ru-RU" sz="2800" b="1" dirty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337" y="1135641"/>
            <a:ext cx="3321978" cy="472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583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1130" y="644236"/>
            <a:ext cx="475455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— важная часть профессии дата-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сайентиста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Нейросети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становятся всё более популярными для анализа массивов данных, поэтому специалист должен уметь работать с ними.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Одной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главных целей является достижение бизнес-результата.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Ведь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с помощью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разрабатываются прогнозирующие модели.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поведение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пользователей в сети,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валют,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стоимости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акций и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другое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735281" y="207819"/>
            <a:ext cx="6463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кто это, чем занимается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461" y="3305747"/>
            <a:ext cx="1813013" cy="914198"/>
          </a:xfrm>
          <a:prstGeom prst="rect">
            <a:avLst/>
          </a:prstGeom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682" y="868936"/>
            <a:ext cx="3439329" cy="142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918" y="2269099"/>
            <a:ext cx="2241813" cy="1261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8558" y="4379647"/>
            <a:ext cx="1676555" cy="1117703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835" y="3458821"/>
            <a:ext cx="2019129" cy="280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87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155" y="1620982"/>
            <a:ext cx="456576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Именно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дата-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сайентисты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разработали: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чат-боты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рекомендаций в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YouTube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улучшают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систему поисковой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выдачи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35281" y="207819"/>
            <a:ext cx="646314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кто это, чем занимается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099" y="789103"/>
            <a:ext cx="1540229" cy="1265712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399" y="1130437"/>
            <a:ext cx="2030730" cy="2711924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430" y="3988034"/>
            <a:ext cx="2274669" cy="2748105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177" y="2340565"/>
            <a:ext cx="1551428" cy="1443267"/>
          </a:xfrm>
          <a:prstGeom prst="rect">
            <a:avLst/>
          </a:prstGeom>
        </p:spPr>
      </p:pic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892" y="3946759"/>
            <a:ext cx="1765279" cy="992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245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40243" y="531628"/>
            <a:ext cx="860944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зарплата российского специалиста по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ML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enginer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варьируется от 115 до 180 тысяч рублей,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причем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джуниоры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зарабатывают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 до 80 тыс. руб.,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миддлы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до 250 тыс. руб.,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синьоры —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 тыс. руб. и выше.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Ведущие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специалисты с опытом около 5-6 лет могут зарабатывать до 400-500 тыс. рублей в месяц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(источники: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habr.com/ru/companies/otus/articles/788646/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https://spb.hh.ru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93" y="3335153"/>
            <a:ext cx="5061085" cy="178183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1797" y="3989267"/>
            <a:ext cx="5820403" cy="205426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5147" y="5103379"/>
            <a:ext cx="5415222" cy="170322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1754372" y="154549"/>
            <a:ext cx="60180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зарплата</a:t>
            </a:r>
            <a:r>
              <a:rPr lang="en-US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России</a:t>
            </a:r>
          </a:p>
        </p:txBody>
      </p:sp>
      <p:pic>
        <p:nvPicPr>
          <p:cNvPr id="17" name="Picture 6" descr="Picture backgrou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617" y="1135496"/>
            <a:ext cx="903486" cy="90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13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92282" y="732668"/>
            <a:ext cx="83574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Средняя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зарплата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специалиста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ML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enginer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США в 2024 году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составляет: </a:t>
            </a: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126000 долларов США</a:t>
            </a: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(источники: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www.glassdoor.com/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https://builtin.com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/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8" y="2064802"/>
            <a:ext cx="9132582" cy="281345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5755" y="4097072"/>
            <a:ext cx="5702249" cy="270996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317173" y="132331"/>
            <a:ext cx="5704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зарплата</a:t>
            </a:r>
            <a:r>
              <a:rPr lang="en-US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США</a:t>
            </a:r>
          </a:p>
        </p:txBody>
      </p:sp>
      <p:pic>
        <p:nvPicPr>
          <p:cNvPr id="16" name="Picture 6" descr="Picture background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1617" y="1135496"/>
            <a:ext cx="903486" cy="90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71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33376" y="519545"/>
            <a:ext cx="5099435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Scientists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могут работать в различных сферах,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включая:</a:t>
            </a:r>
          </a:p>
          <a:p>
            <a:pPr marL="285750" indent="-285750">
              <a:buFontTx/>
              <a:buChar char="-"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финансы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здравоохранение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 marL="285750" indent="-285750">
              <a:buFontTx/>
              <a:buChar char="-"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 могут быть независимыми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консультантами </a:t>
            </a:r>
          </a:p>
          <a:p>
            <a:pPr marL="285750" indent="-285750">
              <a:buFontTx/>
              <a:buChar char="-"/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или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исследователями.</a:t>
            </a:r>
          </a:p>
          <a:p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популярные сферы:</a:t>
            </a: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помогает качественно улучшить обычный бизнес-анализ и маркетинг. 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Финансовый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сектор. </a:t>
            </a:r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Scientists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участвуют в разработке моделей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скоринга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(системы оценки заемщиков), которые принимают решения о выдаче кредитов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358736" y="93519"/>
            <a:ext cx="50499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место работы</a:t>
            </a: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238" y="4413350"/>
            <a:ext cx="2701492" cy="178016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574" y="933592"/>
            <a:ext cx="1998467" cy="1425404"/>
          </a:xfrm>
          <a:prstGeom prst="rect">
            <a:avLst/>
          </a:prstGeom>
        </p:spPr>
      </p:pic>
      <p:pic>
        <p:nvPicPr>
          <p:cNvPr id="20" name="Picture 2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642" y="597032"/>
            <a:ext cx="1462711" cy="2389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icture backgroun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468" y="3012199"/>
            <a:ext cx="3281032" cy="1375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85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97427" y="713631"/>
            <a:ext cx="490450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Метеорология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Современные прогнозы погоды основывают именно на анализе больших данных из разных источников.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этой сфере применение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наиболее разнообразно — от чат-ботов до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нейросетей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Здравоохранение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Алгоритмы обработки больших данных можно использовать, например, для удаленной диагностики и постановки диагнозов.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Логистика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дает возможность оптимизировать маршруты, минимизировать затраты на доставку.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Сельское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хозяйство. На основе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можно прогнозировать урожайность, искать наиболее эффективные методики выращивания культур.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441864" y="190411"/>
            <a:ext cx="52145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место </a:t>
            </a:r>
            <a:r>
              <a:rPr lang="ru-RU" sz="28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endParaRPr lang="ru-RU" sz="2800" b="1" dirty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203" y="713631"/>
            <a:ext cx="3321315" cy="186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645" y="2320140"/>
            <a:ext cx="2323319" cy="2781007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473" y="4182459"/>
            <a:ext cx="3050082" cy="203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0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74638" y="654626"/>
            <a:ext cx="5201371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успешной карьеры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необходимо разбираться в статистике, математике, программировании и обработке данных. 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целом, список необходимых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знаний выглядит так: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математика (теория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вероятности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статистика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алгебра)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программирование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языке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знание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фреймворков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машинного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базами данных и знание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976746" y="176645"/>
            <a:ext cx="80758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Что должен знать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pic>
        <p:nvPicPr>
          <p:cNvPr id="8194" name="Picture 2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404" y="971237"/>
            <a:ext cx="1377756" cy="1064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295" y="2137402"/>
            <a:ext cx="2031973" cy="112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318" y="3371961"/>
            <a:ext cx="2321928" cy="1278187"/>
          </a:xfrm>
          <a:prstGeom prst="rect">
            <a:avLst/>
          </a:prstGeom>
        </p:spPr>
      </p:pic>
      <p:pic>
        <p:nvPicPr>
          <p:cNvPr id="8198" name="Picture 6" descr="Picture backgroun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815" y="4741941"/>
            <a:ext cx="3330934" cy="1411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349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53291" y="713631"/>
            <a:ext cx="85963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популярная платформа для соревнований по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(люди и организации)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могут: </a:t>
            </a:r>
          </a:p>
          <a:p>
            <a:pPr marL="342900" indent="-34290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публиковать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ней свои наборы данных,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создавать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исследовать модели машинного обучения,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соревноваться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 с другом.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70282"/>
            <a:ext cx="6923398" cy="369689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333" y="3000801"/>
            <a:ext cx="2114068" cy="367625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228600" y="190411"/>
            <a:ext cx="90193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Где получить первый реальный опыт?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651" y="999380"/>
            <a:ext cx="935109" cy="1150659"/>
          </a:xfrm>
          <a:prstGeom prst="rect">
            <a:avLst/>
          </a:prstGeom>
        </p:spPr>
      </p:pic>
      <p:pic>
        <p:nvPicPr>
          <p:cNvPr id="11266" name="Picture 2" descr="Picture backgroun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736" y="999380"/>
            <a:ext cx="1050349" cy="115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08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43220" y="540327"/>
            <a:ext cx="860647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частники на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зарабатывают баллы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они определяют положение </a:t>
            </a: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таблице с результатами.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этих баллов складывается общий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рейтинг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платформе.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резюме о нём можно упомянуть: он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смотреться красиво.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642" y="2743646"/>
            <a:ext cx="7704092" cy="3495064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238991" y="103910"/>
            <a:ext cx="88135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Где получить первый реальный опыт?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0651" y="999380"/>
            <a:ext cx="935109" cy="1150659"/>
          </a:xfrm>
          <a:prstGeom prst="rect">
            <a:avLst/>
          </a:prstGeom>
        </p:spPr>
      </p:pic>
      <p:pic>
        <p:nvPicPr>
          <p:cNvPr id="13" name="Picture 2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736" y="999380"/>
            <a:ext cx="1050349" cy="115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28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332509" y="540327"/>
            <a:ext cx="861718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Многие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вообще считают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лучшим способом изучить науку о данных.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Каждое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-соревнование подготовлено и упаковано.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значит, не нужно разворачивать свой проект с нуля,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собирать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очищать данные.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это всегда хорошо. Р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ешать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по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действительно лучший способ изучить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:)</a:t>
            </a:r>
          </a:p>
          <a:p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Обсуждения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комментарии и интервью участников. Под каждое соревнование создаётся топик на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форуме.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652156" y="187036"/>
            <a:ext cx="673330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Чем полезен </a:t>
            </a:r>
            <a:r>
              <a:rPr lang="en-US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kaggle.com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651" y="999380"/>
            <a:ext cx="935109" cy="1150659"/>
          </a:xfrm>
          <a:prstGeom prst="rect">
            <a:avLst/>
          </a:prstGeom>
        </p:spPr>
      </p:pic>
      <p:pic>
        <p:nvPicPr>
          <p:cNvPr id="13" name="Picture 2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736" y="999380"/>
            <a:ext cx="1050349" cy="115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055" y="4407319"/>
            <a:ext cx="3978419" cy="212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03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74638" y="741362"/>
            <a:ext cx="626124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популярная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-библиотека для машинного обучения,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созданная в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2007 году. </a:t>
            </a:r>
            <a:endParaRPr lang="ru-RU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Её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— взаимодействие с числовыми и научными библиотеками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SciPy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В библиотеке представлены различные алгоритмы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классификации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регрессии 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кластеризации, </a:t>
            </a:r>
            <a:endParaRPr lang="en-US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включая </a:t>
            </a:r>
            <a:r>
              <a:rPr lang="ru-RU" sz="20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machines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err="1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forests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err="1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</a:t>
            </a:r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endParaRPr lang="en-US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</a:t>
            </a:r>
            <a:r>
              <a:rPr lang="ru-RU" sz="2000" b="1" dirty="0" err="1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endParaRPr lang="en-US" sz="2000" b="1" dirty="0" smtClean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smtClean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DBSCAN</a:t>
            </a:r>
            <a:r>
              <a:rPr lang="ru-RU" sz="20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быстро набрала популярность и сегодня является одним из лучших вариантов для ML-разработки, что подтверждает статистика её использования в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-соревнованиях.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485900" y="190409"/>
            <a:ext cx="688917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Библиотека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348" y="788033"/>
            <a:ext cx="1762024" cy="953095"/>
          </a:xfrm>
          <a:prstGeom prst="rect">
            <a:avLst/>
          </a:prstGeom>
        </p:spPr>
      </p:pic>
      <p:pic>
        <p:nvPicPr>
          <p:cNvPr id="11" name="Picture 6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342" y="2425932"/>
            <a:ext cx="4140358" cy="1753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79" y="4270664"/>
            <a:ext cx="1337293" cy="185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87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61108" y="820882"/>
            <a:ext cx="838858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●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для работы с однородными данными в виде массивов;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библиотека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для работы с неоднородными и поименованными данными;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библиотека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для визуализаций типографского качества;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библиотека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для машинного 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обучения.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421082" y="353292"/>
            <a:ext cx="46966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Scientist</a:t>
            </a:r>
            <a:r>
              <a:rPr lang="ru-RU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b="1" dirty="0">
                <a:solidFill>
                  <a:srgbClr val="0703B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road-map</a:t>
            </a:r>
            <a:endParaRPr lang="ru-RU" sz="2800" b="1" dirty="0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540" y="4316365"/>
            <a:ext cx="3343852" cy="2084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79" y="4270664"/>
            <a:ext cx="1337293" cy="1855310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958" y="4457700"/>
            <a:ext cx="1433659" cy="1732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02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pPr eaLnBrk="1" hangingPunct="1"/>
            <a:endParaRPr lang="ru-RU" altLang="ru-RU" sz="4400" smtClean="0">
              <a:solidFill>
                <a:srgbClr val="7030A0"/>
              </a:solidFill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eaLnBrk="1" hangingPunct="1"/>
            <a:endParaRPr lang="ru-RU" altLang="ru-RU" sz="3200" smtClean="0"/>
          </a:p>
        </p:txBody>
      </p:sp>
      <p:sp>
        <p:nvSpPr>
          <p:cNvPr id="16389" name="Прямоугольник 10"/>
          <p:cNvSpPr>
            <a:spLocks noChangeArrowheads="1"/>
          </p:cNvSpPr>
          <p:nvPr/>
        </p:nvSpPr>
        <p:spPr bwMode="auto">
          <a:xfrm>
            <a:off x="744538" y="741363"/>
            <a:ext cx="7988300" cy="1347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en-US" sz="2400" b="1">
              <a:solidFill>
                <a:srgbClr val="0703B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018020" y="6189752"/>
            <a:ext cx="212598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1" cy="6857999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 flipH="1">
            <a:off x="6777989" y="6189752"/>
            <a:ext cx="227456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defRPr/>
            </a:pPr>
            <a:r>
              <a:rPr lang="ru-RU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∞</a:t>
            </a:r>
            <a:r>
              <a:rPr lang="en-US" altLang="en-US" sz="2000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en-US" b="1" dirty="0">
                <a:solidFill>
                  <a:srgbClr val="020350">
                    <a:alpha val="6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Приходько И.А.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548891" y="2526030"/>
            <a:ext cx="49720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en-US" sz="3600" b="1" kern="0" dirty="0" smtClean="0">
                <a:solidFill>
                  <a:srgbClr val="0203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</a:t>
            </a:r>
            <a:r>
              <a:rPr lang="ru-RU" altLang="en-US" sz="3600" b="1" kern="0" dirty="0">
                <a:solidFill>
                  <a:srgbClr val="0203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 внимание!</a:t>
            </a:r>
            <a:br>
              <a:rPr lang="ru-RU" altLang="en-US" sz="3600" b="1" kern="0" dirty="0">
                <a:solidFill>
                  <a:srgbClr val="0203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kern="0" dirty="0">
              <a:solidFill>
                <a:srgbClr val="0203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79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BFD7F6"/>
      </a:accent5>
      <a:accent6>
        <a:srgbClr val="AE4845"/>
      </a:accent6>
      <a:hlink>
        <a:srgbClr val="0066CC"/>
      </a:hlink>
      <a:folHlink>
        <a:srgbClr val="80008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ru-RU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FD7F6"/>
        </a:accent5>
        <a:accent6>
          <a:srgbClr val="AE4845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ages>0</Pages>
  <Words>1614</Words>
  <Characters>0</Characters>
  <Application>Microsoft Office PowerPoint</Application>
  <DocSecurity>0</DocSecurity>
  <PresentationFormat>Экран (4:3)</PresentationFormat>
  <Lines>0</Lines>
  <Paragraphs>321</Paragraphs>
  <Slides>24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7" baseType="lpstr">
      <vt:lpstr>Arial</vt:lpstr>
      <vt:lpstr>Times New Roman</vt:lpstr>
      <vt:lpstr>Default Design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cp:lastModifiedBy/>
  <cp:revision>402</cp:revision>
  <dcterms:created xsi:type="dcterms:W3CDTF">2013-11-15T06:11:31Z</dcterms:created>
  <dcterms:modified xsi:type="dcterms:W3CDTF">2025-03-28T09:38:08Z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1049-9.1.0.5113</vt:lpwstr>
  </property>
</Properties>
</file>